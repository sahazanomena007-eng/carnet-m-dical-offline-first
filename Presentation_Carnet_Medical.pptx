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097280"/>
            <a:ext cx="94484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CARNET MEDICAL OFFLINE-FIRST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37744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9CA3AF"/>
                </a:solidFill>
                <a:latin typeface="Calibri"/>
              </a:defRPr>
            </a:pPr>
            <a:r>
              <a:t>Application Medicale Cross-Plateforme avec Synchronisation Intelligente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484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Projet Transversale  |  L2 Informatique  |  2025/2026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572000"/>
            <a:ext cx="94484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AF"/>
                </a:solidFill>
                <a:latin typeface="Calibri"/>
              </a:defRPr>
            </a:pPr>
            <a:r>
              <a:t>Technologies : React + TypeScript (Web)  |  PyQt5 + SQLite (Desktop)</a:t>
            </a:r>
            <a:br/>
            <a:r>
              <a:t>Algorithmes : KMP · AVL · Hachage · Tas · DP · Glouton</a:t>
            </a:r>
            <a:br/>
            <a:r>
              <a:t>Base de donnees : MySQL (Cloud) + SQLite (Locale)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54864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Calibri"/>
              </a:defRPr>
            </a:pPr>
            <a:r>
              <a:t>Contexte &amp; Problematique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Pourquoi un Carnet Medical Offline-First ?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13716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362895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74251"/>
                </a:solidFill>
                <a:latin typeface="Calibri"/>
              </a:defRPr>
            </a:pPr>
            <a:r>
              <a:t>•  A Madagascar, l'acces a Internet est limite (moins de 20% de couverture fiable en zones rurales)</a:t>
            </a:r>
          </a:p>
          <a:p>
            <a:pPr>
              <a:spcAft>
                <a:spcPts val="800"/>
              </a:spcAft>
              <a:defRPr sz="1800">
                <a:solidFill>
                  <a:srgbClr val="374251"/>
                </a:solidFill>
                <a:latin typeface="Calibri"/>
              </a:defRPr>
            </a:pPr>
            <a:r>
              <a:t>•  Les donnees medicales doivent etre disponibles meme sans connexion</a:t>
            </a:r>
          </a:p>
          <a:p>
            <a:pPr>
              <a:spcAft>
                <a:spcPts val="800"/>
              </a:spcAft>
              <a:defRPr sz="1800">
                <a:solidFill>
                  <a:srgbClr val="374251"/>
                </a:solidFill>
                <a:latin typeface="Calibri"/>
              </a:defRPr>
            </a:pPr>
            <a:r>
              <a:t>•  Les patients changent souvent de medecin sans historique portable</a:t>
            </a:r>
          </a:p>
          <a:p>
            <a:pPr>
              <a:spcAft>
                <a:spcPts val="800"/>
              </a:spcAft>
              <a:defRPr sz="1800">
                <a:solidFill>
                  <a:srgbClr val="374251"/>
                </a:solidFill>
                <a:latin typeface="Calibri"/>
              </a:defRPr>
            </a:pPr>
            <a:r>
              <a:t>•  Les carnets papier se perdent, se deteriorent, sont illisibles</a:t>
            </a:r>
          </a:p>
          <a:p>
            <a:pPr>
              <a:spcAft>
                <a:spcPts val="800"/>
              </a:spcAft>
              <a:defRPr sz="1800">
                <a:solidFill>
                  <a:srgbClr val="374251"/>
                </a:solidFill>
                <a:latin typeface="Calibri"/>
              </a:defRPr>
            </a:pPr>
          </a:p>
          <a:p>
            <a:pPr>
              <a:spcAft>
                <a:spcPts val="800"/>
              </a:spcAft>
              <a:defRPr sz="1800">
                <a:solidFill>
                  <a:srgbClr val="374251"/>
                </a:solidFill>
                <a:latin typeface="Calibri"/>
              </a:defRPr>
            </a:pPr>
            <a:r>
              <a:t>→  Solution : une application offline-first qui fonctionne d'abord localement</a:t>
            </a:r>
          </a:p>
          <a:p>
            <a:pPr>
              <a:spcAft>
                <a:spcPts val="800"/>
              </a:spcAft>
              <a:defRPr sz="1800">
                <a:solidFill>
                  <a:srgbClr val="374251"/>
                </a:solidFill>
                <a:latin typeface="Calibri"/>
              </a:defRPr>
            </a:pPr>
            <a:r>
              <a:t>     et se synchronise avec le cloud des que la connexion est disponible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54864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Calibri"/>
              </a:defRPr>
            </a:pPr>
            <a:r>
              <a:t>Architecture du 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Approche Cross-Plateforme avec Synchronisation Intelligente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13716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3291840" cy="9144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945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Calibri"/>
              </a:defRPr>
            </a:pPr>
            <a:r>
              <a:t>WEB (React + Vite)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Interface utilisateur moderne</a:t>
            </a:r>
            <a:br/>
            <a:r>
              <a:t>API Express integree</a:t>
            </a:r>
            <a:br/>
            <a:r>
              <a:t>Deploiement cloud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2103120"/>
            <a:ext cx="3291840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1945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DESKTOP (PyQt5)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Application standalone</a:t>
            </a:r>
            <a:br/>
            <a:r>
              <a:t>SQLite locale autonome</a:t>
            </a:r>
            <a:br/>
            <a:r>
              <a:t>Interface native Windows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55280" y="2103120"/>
            <a:ext cx="3291840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219456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Calibri"/>
              </a:defRPr>
            </a:pPr>
            <a:r>
              <a:t>BACKEND (MySQL)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Base de donnees centralisee</a:t>
            </a:r>
            <a:br/>
            <a:r>
              <a:t>Synchronisation differee</a:t>
            </a:r>
            <a:br/>
            <a:r>
              <a:t>Haute disponibilite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06240" y="2377440"/>
            <a:ext cx="274320" cy="13716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4206240" y="2743200"/>
            <a:ext cx="274320" cy="13716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7818120" y="2377440"/>
            <a:ext cx="274320" cy="13716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7818120" y="2743200"/>
            <a:ext cx="274320" cy="137160"/>
          </a:xfrm>
          <a:prstGeom prst="rightArrow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4747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374251"/>
                </a:solidFill>
                <a:latin typeface="Calibri"/>
              </a:defRPr>
            </a:pPr>
            <a:r>
              <a:t>1. L'application fonctionne 100% en local (SQLite / IndexedDB)</a:t>
            </a:r>
          </a:p>
          <a:p>
            <a:pPr>
              <a:spcAft>
                <a:spcPts val="800"/>
              </a:spcAft>
              <a:defRPr sz="1600">
                <a:solidFill>
                  <a:srgbClr val="374251"/>
                </a:solidFill>
                <a:latin typeface="Calibri"/>
              </a:defRPr>
            </a:pPr>
            <a:r>
              <a:t>2. Les donnees sont stockees localement et accessibles immediatement</a:t>
            </a:r>
          </a:p>
          <a:p>
            <a:pPr>
              <a:spcAft>
                <a:spcPts val="800"/>
              </a:spcAft>
              <a:defRPr sz="1600">
                <a:solidFill>
                  <a:srgbClr val="374251"/>
                </a:solidFill>
                <a:latin typeface="Calibri"/>
              </a:defRPr>
            </a:pPr>
            <a:r>
              <a:t>3. En arriere-plan, synchronisation automatique avec le cloud MySQL</a:t>
            </a:r>
          </a:p>
          <a:p>
            <a:pPr>
              <a:spcAft>
                <a:spcPts val="800"/>
              </a:spcAft>
              <a:defRPr sz="1600">
                <a:solidFill>
                  <a:srgbClr val="374251"/>
                </a:solidFill>
                <a:latin typeface="Calibri"/>
              </a:defRPr>
            </a:pPr>
            <a:r>
              <a:t>4. En cas de perte de connexion : pas d'interruption, file d'attente locale</a:t>
            </a:r>
          </a:p>
          <a:p>
            <a:pPr>
              <a:spcAft>
                <a:spcPts val="800"/>
              </a:spcAft>
              <a:defRPr sz="1600">
                <a:solidFill>
                  <a:srgbClr val="374251"/>
                </a:solidFill>
                <a:latin typeface="Calibri"/>
              </a:defRPr>
            </a:pPr>
            <a:r>
              <a:t>5. Reconnexion automatique et fusion intelligente des donnees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Calibri"/>
              </a:defRPr>
            </a:pPr>
            <a:r>
              <a:t>Fonctionnalites - Patient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Profil medical complet accessible en tout temps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1371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5303520" cy="9144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4864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🧑  Profil Personnel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5059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Informations de base, coordonnees, numero de dossier unique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011680"/>
            <a:ext cx="5303520" cy="9144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011680"/>
            <a:ext cx="54864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0848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🎂  Age Calcule Automatiquement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5059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Calcul dynamique a partir de la date de naissance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63240"/>
            <a:ext cx="5303520" cy="9144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063240"/>
            <a:ext cx="54864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3639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💉  Carnet de Vaccination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021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Suivi des vaccins avec dates et types (stockes dans examens)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063240"/>
            <a:ext cx="5303520" cy="9144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063240"/>
            <a:ext cx="54864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13639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🦠  Antecedents Medicaux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5021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Maladies chroniques, allergies et reactions associees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114800"/>
            <a:ext cx="5303520" cy="9144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4114800"/>
            <a:ext cx="54864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1879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🧬  Groupe Sanguin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537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Affichage clair du groupe sanguin du patient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114800"/>
            <a:ext cx="5303520" cy="9144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114800"/>
            <a:ext cx="54864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1879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📅  Rendez-vous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5537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Consultation et gestion des rendez-vous medicaux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166360"/>
            <a:ext cx="5303520" cy="9144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166360"/>
            <a:ext cx="54864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395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🔔  Notifications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6052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Alertes pour nouveaux RDV, consultations, resultats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5166360"/>
            <a:ext cx="5303520" cy="914400"/>
          </a:xfrm>
          <a:prstGeom prst="rect">
            <a:avLst/>
          </a:prstGeom>
          <a:solidFill>
            <a:srgbClr val="F0F9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5166360"/>
            <a:ext cx="54864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52395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🔍  Association Medecin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56052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Liaison securisee avec un medecin via code unique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54864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Calibri"/>
              </a:defRPr>
            </a:pPr>
            <a:r>
              <a:t>Fonctionnalites - Medecin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Outils professionnels pour la gestion des patients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13716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011680"/>
            <a:ext cx="5303520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2011680"/>
            <a:ext cx="54864" cy="9144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848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👥  Gestion des Patients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5059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Lister, rechercher et associer des patients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2011680"/>
            <a:ext cx="5303520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2011680"/>
            <a:ext cx="54864" cy="9144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08483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📋  Dossier Patient Complet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45059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Consultations, prescriptions, allergies, vaccins, RDV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3063240"/>
            <a:ext cx="5303520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1520" y="3063240"/>
            <a:ext cx="54864" cy="9144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13639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🔍  Recherche Multicritere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35021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Recherche par nom, prenom, numero de dossier (algo KMP)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3063240"/>
            <a:ext cx="5303520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3063240"/>
            <a:ext cx="54864" cy="9144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13639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🧬  Groupe Sanguin Visible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5021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Information vitale affichee en un coup d'oeil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4114800"/>
            <a:ext cx="5303520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4114800"/>
            <a:ext cx="54864" cy="9144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1879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📅  Planification RDV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5537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Creation de rendez-vous avec selection patient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4114800"/>
            <a:ext cx="5303520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4114800"/>
            <a:ext cx="54864" cy="9144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18795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🧚  Consultations Detaillees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45537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Motif, symptomes, diagnostic, traitement, observations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5166360"/>
            <a:ext cx="5303520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166360"/>
            <a:ext cx="54864" cy="9144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395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📊  Tableau de Bord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6052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Statistiques : patients, consultations, RDV du jour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5166360"/>
            <a:ext cx="5303520" cy="9144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5166360"/>
            <a:ext cx="54864" cy="9144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83680" y="523951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Calibri"/>
              </a:defRPr>
            </a:pPr>
            <a:r>
              <a:t>📡  Association par Code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83680" y="5605272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Calibri"/>
              </a:defRPr>
            </a:pPr>
            <a:r>
              <a:t>Generation et validation de codes de liaison securises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Calibri"/>
              </a:defRPr>
            </a:pPr>
            <a:r>
              <a:t>Algorithmes Implementes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6 structures de donnees et algorithmes avances identiques sur Web et Desktop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137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35204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3520440" cy="64008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Calibri"/>
              </a:defRPr>
            </a:pPr>
            <a:r>
              <a:t>KMP (Knuth-Morris-Pratt)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036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Recherche textuelle O(n+m) dans l'historique</a:t>
            </a:r>
            <a:br/>
            <a:r>
              <a:t>medical et les dossiers patients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103120"/>
            <a:ext cx="35204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2103120"/>
            <a:ext cx="352044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6280" y="233172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Calibri"/>
              </a:defRPr>
            </a:pPr>
            <a:r>
              <a:t>AVL (Arbre equilibre)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88036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Arbre binaire auto-equilibre pour le</a:t>
            </a:r>
            <a:br/>
            <a:r>
              <a:t>stockage et la recherche rapide de donnees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2103120"/>
            <a:ext cx="35204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2103120"/>
            <a:ext cx="352044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33172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Calibri"/>
              </a:defRPr>
            </a:pPr>
            <a:r>
              <a:t>Table de Hachage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88036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Acces O(1) aux informations patient</a:t>
            </a:r>
            <a:br/>
            <a:r>
              <a:t>via un identifiant unique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297680"/>
            <a:ext cx="35204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297680"/>
            <a:ext cx="3520440" cy="64008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262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Calibri"/>
              </a:defRPr>
            </a:pPr>
            <a:r>
              <a:t>Tas (Heap)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7492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File de priorite pour l'ordonnancement</a:t>
            </a:r>
            <a:br/>
            <a:r>
              <a:t>des rendez-vous urgents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4297680"/>
            <a:ext cx="35204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43400" y="4297680"/>
            <a:ext cx="3520440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26280" y="45262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Calibri"/>
              </a:defRPr>
            </a:pPr>
            <a:r>
              <a:t>Programmation Dynamique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07492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Optimisation des prescriptions selon</a:t>
            </a:r>
            <a:br/>
            <a:r>
              <a:t>le budget et l'efficacite (sac a dos)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4297680"/>
            <a:ext cx="35204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4297680"/>
            <a:ext cx="3520440" cy="64008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45262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F2937"/>
                </a:solidFill>
                <a:latin typeface="Calibri"/>
              </a:defRPr>
            </a:pPr>
            <a:r>
              <a:t>Glouton (Greedy)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5074920"/>
            <a:ext cx="3154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Ordonnancement optimal des rendez-vous</a:t>
            </a:r>
            <a:br/>
            <a:r>
              <a:t>par priorite et creneaux disponibles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Calibri"/>
              </a:defRPr>
            </a:pPr>
            <a:r>
              <a:t>Technologies Utilisees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Stack technique moderne et robuste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137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6060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2606040" cy="64008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Calibri"/>
              </a:defRPr>
            </a:pPr>
            <a:r>
              <a:t>🌐  Web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260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React 19</a:t>
            </a:r>
            <a:br/>
            <a:r>
              <a:t>TypeScript 5</a:t>
            </a:r>
            <a:br/>
            <a:r>
              <a:t>Vite 7</a:t>
            </a:r>
            <a:br/>
            <a:r>
              <a:t>Vitest</a:t>
            </a:r>
            <a:br/>
            <a:r>
              <a:t>Tailwind CSS</a:t>
            </a:r>
            <a:br/>
            <a:r>
              <a:t>Express.js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29000" y="2103120"/>
            <a:ext cx="26060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2103120"/>
            <a:ext cx="2606040" cy="640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Calibri"/>
              </a:defRPr>
            </a:pPr>
            <a:r>
              <a:t>🖥  Desktop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29260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Python 3.13</a:t>
            </a:r>
            <a:br/>
            <a:r>
              <a:t>PyQt5</a:t>
            </a:r>
            <a:br/>
            <a:r>
              <a:t>SQLite3</a:t>
            </a:r>
            <a:br/>
            <a:r>
              <a:t>Unittest</a:t>
            </a:r>
            <a:br/>
            <a:r>
              <a:t>Logging</a:t>
            </a:r>
            <a:br/>
            <a:r>
              <a:t>dataclasses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103120"/>
            <a:ext cx="26060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103120"/>
            <a:ext cx="2606040" cy="640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317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Calibri"/>
              </a:defRPr>
            </a:pPr>
            <a:r>
              <a:t>📡  Backend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9260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MySQL (Cloud)</a:t>
            </a:r>
            <a:br/>
            <a:r>
              <a:t>API REST</a:t>
            </a:r>
            <a:br/>
            <a:r>
              <a:t>CORS</a:t>
            </a:r>
            <a:br/>
            <a:r>
              <a:t>dotenv</a:t>
            </a:r>
            <a:br/>
            <a:r>
              <a:t>JWT Auth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89720" y="2103120"/>
            <a:ext cx="260604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89720" y="2103120"/>
            <a:ext cx="2606040" cy="640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2331720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F2937"/>
                </a:solidFill>
                <a:latin typeface="Calibri"/>
              </a:defRPr>
            </a:pPr>
            <a:r>
              <a:t>⚙  Outils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926080"/>
            <a:ext cx="22402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B7280"/>
                </a:solidFill>
                <a:latin typeface="Calibri"/>
              </a:defRPr>
            </a:pPr>
            <a:r>
              <a:t>Git + GitHub</a:t>
            </a:r>
            <a:br/>
            <a:r>
              <a:t>npm/pip</a:t>
            </a:r>
            <a:br/>
            <a:r>
              <a:t>ESLint</a:t>
            </a:r>
            <a:br/>
            <a:r>
              <a:t>Prettier</a:t>
            </a:r>
            <a:br/>
            <a:r>
              <a:t>VSCode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Calibri"/>
              </a:defRPr>
            </a:pPr>
            <a:r>
              <a:t>Tests &amp; Qualite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39 tests unitaires passent sur les deux plateformes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1371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53035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64008" cy="41148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Calibri"/>
              </a:defRPr>
            </a:pPr>
            <a:r>
              <a:t>Web - 18 Tests (Vitest)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92608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KMP : match basique, occurrences multiples, pas de match, table LPS</a:t>
            </a:r>
          </a:p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AVL : insertion, parcours inorder, equilibre, rotations</a:t>
            </a:r>
          </a:p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Hachage : insertion, collision, suppression, inexistant</a:t>
            </a:r>
          </a:p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Tas : ordre priorite, peek, vide</a:t>
            </a:r>
          </a:p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DP : combinaison optimale, vs bruteforce, liste vide</a:t>
            </a:r>
          </a:p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Glouton : selection priorite, conflits, cas sans conflit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103120"/>
            <a:ext cx="53035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2103120"/>
            <a:ext cx="64008" cy="41148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8600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Calibri"/>
              </a:defRPr>
            </a:pPr>
            <a:r>
              <a:t>Desktop - 21 Tests (unittest)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926080"/>
            <a:ext cx="48463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Meme couverture que Web + tests supplementaires sur :</a:t>
            </a:r>
          </a:p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  - search_medical_history (recherche contextuelle)</a:t>
            </a:r>
          </a:p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  - rotation gauche AVL (cas de desequilibre specifique)</a:t>
            </a:r>
          </a:p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  - find_conflicts_detects_overlap (chevauchements)</a:t>
            </a:r>
          </a:p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  - no_conflicts (cas vide)</a:t>
            </a:r>
          </a:p>
          <a:p>
            <a:pPr>
              <a:spcAft>
                <a:spcPts val="800"/>
              </a:spcAft>
              <a:defRPr sz="1400">
                <a:solidFill>
                  <a:srgbClr val="374251"/>
                </a:solidFill>
                <a:latin typeface="Calibri"/>
              </a:defRPr>
            </a:pPr>
            <a:r>
              <a:t>Build Web : 1956 modules, 0 erreur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6400800"/>
            <a:ext cx="10362895" cy="1371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6446520"/>
            <a:ext cx="103628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  <a:latin typeface="Calibri"/>
              </a:defRPr>
            </a:pPr>
            <a:r>
              <a:t>∑  39 tests | Build web 0 erreur | Couverture: 100% des algorithmes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Calibri"/>
              </a:defRPr>
            </a:pPr>
            <a:r>
              <a:t>Diagramme UML - Vue d'Ensemble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Modeles principaux et leurs relations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1371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286000" cy="1645920"/>
          </a:xfrm>
          <a:prstGeom prst="rect">
            <a:avLst/>
          </a:prstGeom>
          <a:solidFill>
            <a:srgbClr val="DBEAFE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4884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Calibri"/>
              </a:defRPr>
            </a:pPr>
            <a:r>
              <a:t>Utilisateur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50592"/>
            <a:ext cx="228600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487168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4251"/>
                </a:solidFill>
                <a:latin typeface="Calibri"/>
              </a:defRPr>
            </a:pPr>
            <a:r>
              <a:t>+id:int</a:t>
            </a:r>
            <a:br/>
            <a:r>
              <a:t>+nom:string</a:t>
            </a:r>
            <a:br/>
            <a:r>
              <a:t>+prenom:string</a:t>
            </a:r>
            <a:br/>
            <a:r>
              <a:t>+email:string</a:t>
            </a:r>
            <a:br/>
            <a:r>
              <a:t>+role:enum(patient|medecin)</a:t>
            </a:r>
            <a:br/>
            <a:r>
              <a:t>+telephone:string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2103120"/>
            <a:ext cx="2560320" cy="1828800"/>
          </a:xfrm>
          <a:prstGeom prst="rect">
            <a:avLst/>
          </a:prstGeom>
          <a:solidFill>
            <a:srgbClr val="D1FAE5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91840" y="2148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Calibri"/>
              </a:defRPr>
            </a:pPr>
            <a:r>
              <a:t>Patient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2450592"/>
            <a:ext cx="256032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91840" y="2487168"/>
            <a:ext cx="23774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4251"/>
                </a:solidFill>
                <a:latin typeface="Calibri"/>
              </a:defRPr>
            </a:pPr>
            <a:r>
              <a:t>+id:int</a:t>
            </a:r>
            <a:br/>
            <a:r>
              <a:t>+numero_dossier:string</a:t>
            </a:r>
            <a:br/>
            <a:r>
              <a:t>+date_naissance:date</a:t>
            </a:r>
            <a:br/>
            <a:r>
              <a:t>+groupe_sanguin:string</a:t>
            </a:r>
            <a:br/>
            <a:r>
              <a:t>+antecedents_personnels:text</a:t>
            </a:r>
            <a:br/>
            <a:r>
              <a:t>+get_age():int</a:t>
            </a:r>
            <a:br/>
            <a:r>
              <a:t>+get_vaccins():list</a:t>
            </a:r>
            <a:br/>
            <a:r>
              <a:t>+get_notifications():list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103120"/>
            <a:ext cx="2377440" cy="1828800"/>
          </a:xfrm>
          <a:prstGeom prst="rect">
            <a:avLst/>
          </a:prstGeom>
          <a:solidFill>
            <a:srgbClr val="FEFBD0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14884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Calibri"/>
              </a:defRPr>
            </a:pPr>
            <a:r>
              <a:t>Medecin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450592"/>
            <a:ext cx="237744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2487168"/>
            <a:ext cx="21945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4251"/>
                </a:solidFill>
                <a:latin typeface="Calibri"/>
              </a:defRPr>
            </a:pPr>
            <a:r>
              <a:t>+id:int</a:t>
            </a:r>
            <a:br/>
            <a:r>
              <a:t>+specialite:string</a:t>
            </a:r>
            <a:br/>
            <a:r>
              <a:t>+num_ordre:string</a:t>
            </a:r>
            <a:br/>
            <a:r>
              <a:t>+get_patients():list</a:t>
            </a:r>
            <a:br/>
            <a:r>
              <a:t>+get_rdv():list</a:t>
            </a:r>
            <a:br/>
            <a:r>
              <a:t>+create_consultation()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0" y="2103120"/>
            <a:ext cx="2560320" cy="1828800"/>
          </a:xfrm>
          <a:prstGeom prst="rect">
            <a:avLst/>
          </a:prstGeom>
          <a:solidFill>
            <a:srgbClr val="FDE8E8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0" y="21488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Calibri"/>
              </a:defRPr>
            </a:pPr>
            <a:r>
              <a:t>Consultation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0" y="2450592"/>
            <a:ext cx="256032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0" y="2487168"/>
            <a:ext cx="23774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4251"/>
                </a:solidFill>
                <a:latin typeface="Calibri"/>
              </a:defRPr>
            </a:pPr>
            <a:r>
              <a:t>+id:int</a:t>
            </a:r>
            <a:br/>
            <a:r>
              <a:t>+date_consultation:date</a:t>
            </a:r>
            <a:br/>
            <a:r>
              <a:t>+motif:string</a:t>
            </a:r>
            <a:br/>
            <a:r>
              <a:t>+diagnostic:string</a:t>
            </a:r>
            <a:br/>
            <a:r>
              <a:t>+traitement:text</a:t>
            </a:r>
            <a:br/>
            <a:r>
              <a:t>+patient_id:FK</a:t>
            </a:r>
            <a:br/>
            <a:r>
              <a:t>+medecin_id:FK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297680"/>
            <a:ext cx="2560320" cy="1645920"/>
          </a:xfrm>
          <a:prstGeom prst="rect">
            <a:avLst/>
          </a:prstGeom>
          <a:solidFill>
            <a:srgbClr val="E0E7FF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343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Calibri"/>
              </a:defRPr>
            </a:pPr>
            <a:r>
              <a:t>RendezVous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45152"/>
            <a:ext cx="256032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2377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4251"/>
                </a:solidFill>
                <a:latin typeface="Calibri"/>
              </a:defRPr>
            </a:pPr>
            <a:r>
              <a:t>+id:int</a:t>
            </a:r>
            <a:br/>
            <a:r>
              <a:t>+date_rdv:date</a:t>
            </a:r>
            <a:br/>
            <a:r>
              <a:t>+heure_debut:time</a:t>
            </a:r>
            <a:br/>
            <a:r>
              <a:t>+statut:string</a:t>
            </a:r>
            <a:br/>
            <a:r>
              <a:t>+priorite:int</a:t>
            </a:r>
            <a:br/>
            <a:r>
              <a:t>+patient_id:FK</a:t>
            </a:r>
            <a:br/>
            <a:r>
              <a:t>+medecin_id:FK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0" y="4297680"/>
            <a:ext cx="2286000" cy="1645920"/>
          </a:xfrm>
          <a:prstGeom prst="rect">
            <a:avLst/>
          </a:prstGeom>
          <a:solidFill>
            <a:srgbClr val="FCE4EC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43434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Calibri"/>
              </a:defRPr>
            </a:pPr>
            <a:r>
              <a:t>Prescription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74720" y="4645152"/>
            <a:ext cx="228600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0" y="4681728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4251"/>
                </a:solidFill>
                <a:latin typeface="Calibri"/>
              </a:defRPr>
            </a:pPr>
            <a:r>
              <a:t>+id:int</a:t>
            </a:r>
            <a:br/>
            <a:r>
              <a:t>+medicament:string</a:t>
            </a:r>
            <a:br/>
            <a:r>
              <a:t>+dosage:string</a:t>
            </a:r>
            <a:br/>
            <a:r>
              <a:t>+duree:string</a:t>
            </a:r>
            <a:br/>
            <a:r>
              <a:t>+consultation_id:FK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4297680"/>
            <a:ext cx="2286000" cy="1645920"/>
          </a:xfrm>
          <a:prstGeom prst="rect">
            <a:avLst/>
          </a:prstGeom>
          <a:solidFill>
            <a:srgbClr val="D5F5E3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4343400"/>
            <a:ext cx="2103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Calibri"/>
              </a:defRPr>
            </a:pPr>
            <a:r>
              <a:t>Examen/Vaccin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26480" y="4645152"/>
            <a:ext cx="228600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17920" y="4681728"/>
            <a:ext cx="2103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4251"/>
                </a:solidFill>
                <a:latin typeface="Calibri"/>
              </a:defRPr>
            </a:pPr>
            <a:r>
              <a:t>+id:int</a:t>
            </a:r>
            <a:br/>
            <a:r>
              <a:t>+type_examen:string</a:t>
            </a:r>
            <a:br/>
            <a:r>
              <a:t>+date_examen:date</a:t>
            </a:r>
            <a:br/>
            <a:r>
              <a:t>+resultat:text</a:t>
            </a:r>
            <a:br/>
            <a:r>
              <a:t>+patient_id:FK</a:t>
            </a:r>
            <a:br/>
            <a:r>
              <a:t>+medecin_id:FK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0" y="4297680"/>
            <a:ext cx="2560320" cy="1645920"/>
          </a:xfrm>
          <a:prstGeom prst="rect">
            <a:avLst/>
          </a:prstGeom>
          <a:solidFill>
            <a:srgbClr val="F3E8FF"/>
          </a:solidFill>
          <a:ln w="1270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869680" y="4343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1F2937"/>
                </a:solidFill>
                <a:latin typeface="Calibri"/>
              </a:defRPr>
            </a:pPr>
            <a:r>
              <a:t>Notification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4645152"/>
            <a:ext cx="2560320" cy="13716"/>
          </a:xfrm>
          <a:prstGeom prst="rect">
            <a:avLst/>
          </a:prstGeom>
          <a:solidFill>
            <a:srgbClr val="CBD5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869680" y="4681728"/>
            <a:ext cx="23774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374251"/>
                </a:solidFill>
                <a:latin typeface="Calibri"/>
              </a:defRPr>
            </a:pPr>
            <a:r>
              <a:t>+id:int</a:t>
            </a:r>
            <a:br/>
            <a:r>
              <a:t>+type:string</a:t>
            </a:r>
            <a:br/>
            <a:r>
              <a:t>+titre:string</a:t>
            </a:r>
            <a:br/>
            <a:r>
              <a:t>+message:text</a:t>
            </a:r>
            <a:br/>
            <a:r>
              <a:t>+est_lue:bool</a:t>
            </a:r>
            <a:br/>
            <a:r>
              <a:t>+date_creation:datetime</a:t>
            </a:r>
            <a:br/>
            <a:r>
              <a:t>+user_id:FK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2834640" y="2926080"/>
            <a:ext cx="320040" cy="109728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ight Arrow 38"/>
          <p:cNvSpPr/>
          <p:nvPr/>
        </p:nvSpPr>
        <p:spPr>
          <a:xfrm>
            <a:off x="5760720" y="2926080"/>
            <a:ext cx="320040" cy="109728"/>
          </a:xfrm>
          <a:prstGeom prst="rightArrow">
            <a:avLst/>
          </a:prstGeom>
          <a:solidFill>
            <a:srgbClr val="9CA3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54864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Calibri"/>
              </a:defRPr>
            </a:pPr>
            <a:r>
              <a:t>Diagramme de Cas d'Utilisation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Acteurs et fonctionnalites principales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13716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56BE8"/>
                </a:solidFill>
                <a:latin typeface="Calibri"/>
              </a:defRPr>
            </a:pPr>
            <a:r>
              <a:t>Acteur : Patient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50292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Consulter son profil medical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Voir son age, groupe sanguin, maladies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Consulter son carnet de vaccination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Gerer ses rendez-vous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Recevoir des notifications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S'associer a un medecin (code unique)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Voir son historique de consultations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0B981"/>
                </a:solidFill>
                <a:latin typeface="Calibri"/>
              </a:defRPr>
            </a:pPr>
            <a:r>
              <a:t>Acteur : Medecin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256032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Consulter la liste de ses patients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Voir le dossier complet d'un patient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Creer des consultations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Prescrire des traitements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Planifier des rendez-vous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Generer des codes d'association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Rechercher des patients (KMP)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Ordonnancer les RDV (Glouton + Tas)</a:t>
            </a:r>
          </a:p>
          <a:p>
            <a:pPr>
              <a:spcAft>
                <a:spcPts val="800"/>
              </a:spcAft>
              <a:defRPr sz="1500">
                <a:solidFill>
                  <a:srgbClr val="374251"/>
                </a:solidFill>
                <a:latin typeface="Calibri"/>
              </a:defRPr>
            </a:pPr>
            <a:r>
              <a:t>• Optimiser les prescriptions (DP)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6B7280"/>
                </a:solidFill>
                <a:latin typeface="Calibri"/>
              </a:defRPr>
            </a:pPr>
            <a:r>
              <a:t>Chaque cas d'utilisation est identique sur les deux plateformes (Web et Desktop)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73152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1F2937"/>
                </a:solidFill>
                <a:latin typeface="Calibri"/>
              </a:defRPr>
            </a:pPr>
            <a:r>
              <a:t>Structure du Projet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6B7280"/>
                </a:solidFill>
                <a:latin typeface="Calibri"/>
              </a:defRPr>
            </a:pPr>
            <a:r>
              <a:t>Organisation du code source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11064240" cy="1371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0116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251"/>
                </a:solidFill>
                <a:latin typeface="Consolas"/>
              </a:defRPr>
            </a:pPr>
            <a:r>
              <a:t>Carnet Medical Offline-First/</a:t>
            </a:r>
            <a:br/>
            <a:r>
              <a:t>│</a:t>
            </a:r>
            <a:br/>
            <a:r>
              <a:t>├──  web/                              # Application Web</a:t>
            </a:r>
            <a:br/>
            <a:r>
              <a:t>│   ├──  src/                           # Frontend React + TypeScript</a:t>
            </a:r>
            <a:br/>
            <a:r>
              <a:t>│   │   ├──  pages/patient/           # Pages patient (Dashboard)</a:t>
            </a:r>
            <a:br/>
            <a:r>
              <a:t>│   │   ├──  pages/medecin/           # Pages medecin (Patients, RDV,</a:t>
            </a:r>
            <a:br/>
            <a:r>
              <a:t>│   │   │                          Consultation, Recherche,</a:t>
            </a:r>
            <a:br/>
            <a:r>
              <a:t>│   │   │                          DossierPatient)</a:t>
            </a:r>
            <a:br/>
            <a:r>
              <a:t>│   │   └──  App.tsx                  # Routeur principal</a:t>
            </a:r>
            <a:br/>
            <a:r>
              <a:t>│   ├──  api/                          # Backend Express + algorithmes</a:t>
            </a:r>
            <a:br/>
            <a:r>
              <a:t>│   │   ├──  lib/algorithms.ts        # KMP, AVL, HashTable, Heap,</a:t>
            </a:r>
            <a:br/>
            <a:r>
              <a:t>│   │   │                          DP, Greedy (identiques desktop)</a:t>
            </a:r>
            <a:br/>
            <a:r>
              <a:t>│   │   ├──  medecin-router.ts        # API medecin</a:t>
            </a:r>
            <a:br/>
            <a:r>
              <a:t>│   │   ├──  patient-router.ts        # API patient</a:t>
            </a:r>
            <a:br/>
            <a:r>
              <a:t>│   │   └──  router.ts                # API notifications</a:t>
            </a:r>
            <a:br/>
            <a:r>
              <a:t>│   ├──  api/lib/algorithms.test.ts    # 18 tests Vitest</a:t>
            </a:r>
            <a:br/>
            <a:r>
              <a:t>│   └──  package.json</a:t>
            </a:r>
            <a:br/>
            <a:r>
              <a:t>│</a:t>
            </a:r>
            <a:br/>
            <a:r>
              <a:t>├──  desktop/                        # Application Desktop</a:t>
            </a:r>
            <a:br/>
            <a:r>
              <a:t>│   ├──  views/                       # Interfaces PyQt5</a:t>
            </a:r>
            <a:br/>
            <a:r>
              <a:t>│   │   ├──  patient_view.py           # Dashboard patient</a:t>
            </a:r>
            <a:br/>
            <a:r>
              <a:t>│   │   └──  medecin_view.py            # Vue medecin complete</a:t>
            </a:r>
            <a:br/>
            <a:r>
              <a:t>│   ├──  models/                      # Acces aux donnees</a:t>
            </a:r>
            <a:br/>
            <a:r>
              <a:t>│   │   ├──  patient_model.py          # CRUD patient</a:t>
            </a:r>
            <a:br/>
            <a:r>
              <a:t>│   │   └──  medecin_model.py           # CRUD medecin</a:t>
            </a:r>
            <a:br/>
            <a:r>
              <a:t>│   ├──  algorithms/                  # Algorithmes (Python pur)</a:t>
            </a:r>
            <a:br/>
            <a:r>
              <a:t>│   │   └──  __init__.py               # KMP, AVL, Hash, Heap, DP, Greedy</a:t>
            </a:r>
            <a:br/>
            <a:r>
              <a:t>│   ├──  db.py                        # SQLite + sync cloud</a:t>
            </a:r>
            <a:br/>
            <a:r>
              <a:t>│   └──  tests/</a:t>
            </a:r>
            <a:br/>
            <a:r>
              <a:t>│       └──  test_algorithms.py          # 21 tests unittest</a:t>
            </a:r>
            <a:br/>
            <a:r>
              <a:t>│</a:t>
            </a:r>
            <a:br/>
            <a:r>
              <a:t>└──  resume_algo_uml.md              # Doc algorithmes + diagrammes UML</a:t>
            </a:r>
            <a:b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56B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914400"/>
            <a:ext cx="94484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Calibri"/>
              </a:defRPr>
            </a:pPr>
            <a:r>
              <a:t>Merci pour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103120"/>
            <a:ext cx="94484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CA3AF"/>
                </a:solidFill>
                <a:latin typeface="Calibri"/>
              </a:defRPr>
            </a:pPr>
            <a:r>
              <a:t>Carnet Medical Offline-First : une solution medicale moderne et accessible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3840480"/>
            <a:ext cx="94484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D1D5DB"/>
                </a:solidFill>
                <a:latin typeface="Calibri"/>
              </a:defRPr>
            </a:pPr>
            <a:r>
              <a:t>✓  Application cross-plateforme (Web + Desktop)</a:t>
            </a:r>
          </a:p>
          <a:p>
            <a:pPr>
              <a:spcAft>
                <a:spcPts val="800"/>
              </a:spcAft>
              <a:defRPr sz="1800">
                <a:solidFill>
                  <a:srgbClr val="D1D5DB"/>
                </a:solidFill>
                <a:latin typeface="Calibri"/>
              </a:defRPr>
            </a:pPr>
            <a:r>
              <a:t>✓  Architecture offline-first avec synchronisation intelligente</a:t>
            </a:r>
          </a:p>
          <a:p>
            <a:pPr>
              <a:spcAft>
                <a:spcPts val="800"/>
              </a:spcAft>
              <a:defRPr sz="1800">
                <a:solidFill>
                  <a:srgbClr val="D1D5DB"/>
                </a:solidFill>
                <a:latin typeface="Calibri"/>
              </a:defRPr>
            </a:pPr>
            <a:r>
              <a:t>✓  6 algorithmes avances implementes (KMP, AVL, Hash, Heap, DP, Greedy)</a:t>
            </a:r>
          </a:p>
          <a:p>
            <a:pPr>
              <a:spcAft>
                <a:spcPts val="800"/>
              </a:spcAft>
              <a:defRPr sz="1800">
                <a:solidFill>
                  <a:srgbClr val="D1D5DB"/>
                </a:solidFill>
                <a:latin typeface="Calibri"/>
              </a:defRPr>
            </a:pPr>
            <a:r>
              <a:t>✓  Tests unitaires sur les deux plateformes (39 tests)</a:t>
            </a:r>
          </a:p>
          <a:p>
            <a:pPr>
              <a:spcAft>
                <a:spcPts val="800"/>
              </a:spcAft>
              <a:defRPr sz="1800">
                <a:solidFill>
                  <a:srgbClr val="D1D5DB"/>
                </a:solidFill>
                <a:latin typeface="Calibri"/>
              </a:defRPr>
            </a:pPr>
            <a:r>
              <a:t>✓  Interface professionnelle en francais</a:t>
            </a:r>
          </a:p>
          <a:p>
            <a:pPr>
              <a:spcAft>
                <a:spcPts val="800"/>
              </a:spcAft>
              <a:defRPr sz="1800">
                <a:solidFill>
                  <a:srgbClr val="D1D5DB"/>
                </a:solidFill>
                <a:latin typeface="Calibri"/>
              </a:defRPr>
            </a:pPr>
            <a:r>
              <a:t>✓  Profil patient complet (age, sang, maladies, vaccins, notifs)</a:t>
            </a:r>
          </a:p>
          <a:p>
            <a:pPr>
              <a:spcAft>
                <a:spcPts val="800"/>
              </a:spcAft>
              <a:defRPr sz="1800">
                <a:solidFill>
                  <a:srgbClr val="D1D5DB"/>
                </a:solidFill>
                <a:latin typeface="Calibri"/>
              </a:defRPr>
            </a:pPr>
            <a:r>
              <a:t>✓  Dossier patient pour le medecin (consultations, prescriptions, RDV)</a:t>
            </a:r>
          </a:p>
          <a:p>
            <a:pPr>
              <a:spcAft>
                <a:spcPts val="800"/>
              </a:spcAft>
              <a:defRPr sz="1800">
                <a:solidFill>
                  <a:srgbClr val="D1D5DB"/>
                </a:solidFill>
                <a:latin typeface="Calibri"/>
              </a:defRPr>
            </a:pPr>
            <a:r>
              <a:t>✓  Gestion des rendez-vous avec notifications automatiques</a:t>
            </a:r>
          </a:p>
          <a:p>
            <a:pPr>
              <a:spcAft>
                <a:spcPts val="800"/>
              </a:spcAft>
              <a:defRPr sz="1800">
                <a:solidFill>
                  <a:srgbClr val="D1D5DB"/>
                </a:solidFill>
                <a:latin typeface="Calibri"/>
              </a:defRPr>
            </a:pPr>
            <a:r>
              <a:t>✓  Association securisee patient-medecin par code unique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